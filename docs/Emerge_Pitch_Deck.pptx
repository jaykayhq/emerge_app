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EMERGE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834640"/>
            <a:ext cx="3044952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D700"/>
                </a:solidFill>
                <a:latin typeface="Calibri"/>
              </a:defRPr>
            </a:pPr>
            <a:r>
              <a:t>The Identity-First Habit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Transforming who you are, one vote at a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Investor Pitch Deck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3080"/>
                </a:solidFill>
                <a:latin typeface="Calibri"/>
              </a:defRPr>
            </a:pPr>
            <a:r>
              <a:t>Powered by Flutter, Firebase &amp; Gemini AI Behavioral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Habit Apps Are Broken: The Outcome 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82880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3383280" cy="2743200"/>
          </a:xfrm>
          <a:prstGeom prst="rect">
            <a:avLst/>
          </a:prstGeom>
          <a:solidFill>
            <a:srgbClr val="1E143B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6B"/>
                </a:solidFill>
                <a:latin typeface="Calibri"/>
              </a:defRPr>
            </a:pPr>
            <a:r>
              <a:t>92%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Failure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490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of people abandon New Year's resolutions by February due to friction.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3383280" cy="2743200"/>
          </a:xfrm>
          <a:prstGeom prst="rect">
            <a:avLst/>
          </a:prstGeom>
          <a:solidFill>
            <a:srgbClr val="1E143B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6B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91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Churn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7490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of traditional habit tracker users quit within the first 30 days.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194560"/>
            <a:ext cx="3383280" cy="2743200"/>
          </a:xfrm>
          <a:prstGeom prst="rect">
            <a:avLst/>
          </a:prstGeom>
          <a:solidFill>
            <a:srgbClr val="1E143B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6B"/>
                </a:solidFill>
                <a:latin typeface="Calibri"/>
              </a:defRPr>
            </a:pPr>
            <a:r>
              <a:t>Outcome Trap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291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Focus Mismatch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7490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Apps track what you do ("lose 5kg") rather than who you wish to become ("I am an athlete").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The Root Cause: Most productivity apps target the superficial layer of habits—outcomes and processes.</a:t>
            </a:r>
            <a:br/>
            <a:r>
              <a:t>Emerge targets the deepest layer: Identity. True behavior change is identity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Emerge: The First Gamified RPG Identity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8288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3383280" cy="3474720"/>
          </a:xfrm>
          <a:prstGeom prst="rect">
            <a:avLst/>
          </a:prstGeom>
          <a:solidFill>
            <a:srgbClr val="1E143B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  <a:latin typeface="Calibri"/>
              </a:defRPr>
            </a:pPr>
            <a:r>
              <a:t>Identity-First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490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Users don't just add checklists. They choose a Future Self path (Stoic, Scholar, Athlete, etc.) and accumulate evidence towards that persona.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3383280" cy="3474720"/>
          </a:xfrm>
          <a:prstGeom prst="rect">
            <a:avLst/>
          </a:prstGeom>
          <a:solidFill>
            <a:srgbClr val="1E143B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🗳️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  <a:latin typeface="Calibri"/>
              </a:defRPr>
            </a:pPr>
            <a:r>
              <a:t>The Identity Vote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7490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Every completed habit is structured as a "vote" for your character. Small, daily visual evidence shifts self-beliefs naturally.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194560"/>
            <a:ext cx="3383280" cy="3474720"/>
          </a:xfrm>
          <a:prstGeom prst="rect">
            <a:avLst/>
          </a:prstGeom>
          <a:solidFill>
            <a:srgbClr val="1E143B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  <a:latin typeface="Calibri"/>
              </a:defRPr>
            </a:pPr>
            <a:r>
              <a:t>Gemini-Powered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7490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An embedded AI coach that analyzes habits, context, and schedules to offer tailored stacking routines and keep users accountable.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Massive, High-Growth Untapped 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8288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383280" cy="1280160"/>
          </a:xfrm>
          <a:prstGeom prst="rect">
            <a:avLst/>
          </a:prstGeom>
          <a:solidFill>
            <a:srgbClr val="1E143B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Calibri"/>
              </a:defRPr>
            </a:pPr>
            <a:r>
              <a:t>₦17.6 Trillion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Global Habit Tracking 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011680"/>
            <a:ext cx="3383280" cy="1280160"/>
          </a:xfrm>
          <a:prstGeom prst="rect">
            <a:avLst/>
          </a:prstGeom>
          <a:solidFill>
            <a:srgbClr val="1E143B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5FF"/>
                </a:solidFill>
                <a:latin typeface="Calibri"/>
              </a:defRPr>
            </a:pPr>
            <a:r>
              <a:t>₦209 Billion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Nigeria Online Fitness (29% CAGR)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011680"/>
            <a:ext cx="3383280" cy="1280160"/>
          </a:xfrm>
          <a:prstGeom prst="rect">
            <a:avLst/>
          </a:prstGeom>
          <a:solidFill>
            <a:srgbClr val="1E143B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  <a:latin typeface="Calibri"/>
              </a:defRPr>
            </a:pPr>
            <a:r>
              <a:t>₦383 Billion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43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Nigeria Wellness Projection (2033)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66160"/>
            <a:ext cx="5212080" cy="2743200"/>
          </a:xfrm>
          <a:prstGeom prst="rect">
            <a:avLst/>
          </a:prstGeom>
          <a:solidFill>
            <a:srgbClr val="1E143B"/>
          </a:solidFill>
          <a:ln w="12700">
            <a:solidFill>
              <a:srgbClr val="4A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490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🇳🇬 The Nigerian Digital Surge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→ 120M+ smartphone users seeking self-improvement.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→ Rising awareness around mental wellness &amp; health.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→ Digital-native Gen Z &amp; Millennial demographic base.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566160"/>
            <a:ext cx="5212080" cy="2743200"/>
          </a:xfrm>
          <a:prstGeom prst="rect">
            <a:avLst/>
          </a:prstGeom>
          <a:solidFill>
            <a:srgbClr val="1E143B"/>
          </a:solidFill>
          <a:ln w="12700">
            <a:solidFill>
              <a:srgbClr val="4A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490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  <a:latin typeface="Calibri"/>
              </a:defRPr>
            </a:pPr>
            <a:r>
              <a:t>🌍 The Competitive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0624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→ Global apps ignore localized pricing and payment systems.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→ Competitors are generic and lack cultural context/rewards.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→ High-data requirements of current systems lock out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Inside the Emerge RPG Habit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8288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5212080" cy="4114800"/>
          </a:xfrm>
          <a:prstGeom prst="rect">
            <a:avLst/>
          </a:prstGeom>
          <a:solidFill>
            <a:srgbClr val="1E143B"/>
          </a:solidFill>
          <a:ln w="12700">
            <a:solidFill>
              <a:srgbClr val="4A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🎮 Future Self Character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→ Choose 6 distinct archetypes: Athlete, Scholar, Creator, Stoic, Explorer, Zealot.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→ Dynamic visual progress: Complete habits to build skyscrapers in your City or plant trees in your Forest.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→ RPG-level system: Earn XP, gold, and visual title badges with consistent execution.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103120"/>
            <a:ext cx="5212080" cy="4114800"/>
          </a:xfrm>
          <a:prstGeom prst="rect">
            <a:avLst/>
          </a:prstGeom>
          <a:solidFill>
            <a:srgbClr val="1E143B"/>
          </a:solidFill>
          <a:ln w="12700">
            <a:solidFill>
              <a:srgbClr val="4A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5FF"/>
                </a:solidFill>
                <a:latin typeface="Calibri"/>
              </a:defRPr>
            </a:pPr>
            <a:r>
              <a:t>🔗 Habit Stack &amp;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432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→ Visual Habit Stack Builder: Anchors new actions onto existing daily routines.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→ Gemini Coach integration: Contextual reminders, custom routines, and behavior checks.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→ Mobile widgets keep habit cues prominent on user home screens.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Freemium Pricing &amp; Local Monetization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8288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383280" cy="1828800"/>
          </a:xfrm>
          <a:prstGeom prst="rect">
            <a:avLst/>
          </a:prstGeom>
          <a:solidFill>
            <a:srgbClr val="1E143B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alibri"/>
              </a:defRPr>
            </a:pPr>
            <a:r>
              <a:t>₦2,500 /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Premium Sub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Affordable local payment, unlocking unlimited habits, heatmaps, and advanced AI logs.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03120"/>
            <a:ext cx="3383280" cy="1828800"/>
          </a:xfrm>
          <a:prstGeom prst="rect">
            <a:avLst/>
          </a:prstGeom>
          <a:solidFill>
            <a:srgbClr val="1E143B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Calibri"/>
              </a:defRPr>
            </a:pPr>
            <a:r>
              <a:t>₦20,000 /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Annual Sub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Save 33% (equivalent to 4 months free) for long-term consistency.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103120"/>
            <a:ext cx="3383280" cy="1828800"/>
          </a:xfrm>
          <a:prstGeom prst="rect">
            <a:avLst/>
          </a:prstGeom>
          <a:solidFill>
            <a:srgbClr val="1E143B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Calibri"/>
              </a:defRPr>
            </a:pPr>
            <a:r>
              <a:t>Challenges &amp; 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743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Affiliate / Ad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08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Non-paying users monetize via unobtrusive ads. Affiliate challenge rewards sponsored by brands.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1520" y="411480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474720"/>
                <a:gridCol w="3566160"/>
              </a:tblGrid>
              <a:tr h="28738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1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Free Tier</a:t>
                      </a:r>
                    </a:p>
                  </a:txBody>
                  <a:tcPr>
                    <a:solidFill>
                      <a:srgbClr val="1E1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Emerge Pro ✨</a:t>
                      </a:r>
                    </a:p>
                  </a:txBody>
                  <a:tcPr>
                    <a:solidFill>
                      <a:srgbClr val="1E143B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Active Habits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 3 Habits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Unlimited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Habit Stacks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 Morning Routine Stack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Unlimited Stacks (Morning/Noon/Night)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Analytics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Streak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Heatmaps, Trends, &amp; Success %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Visual Worlds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Basic Avatar / World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Exclusive Themes, Skins, &amp; Auras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Behavior Coach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Basic Chat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Advanced Coach with Full History Analysis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</a:tr>
              <a:tr h="28738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 Experience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Banner &amp; Interstitial Ads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100% Ad-Free Experience ✨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Early Cohort Engagement &amp; Proof of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8288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4114800" cy="3840480"/>
          </a:xfrm>
          <a:prstGeom prst="rect">
            <a:avLst/>
          </a:prstGeom>
          <a:solidFill>
            <a:srgbClr val="1E143B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E676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Active Beta Testers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Providing iterative feedback on UI/UX, streak rules, and RPG progression.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937760"/>
            <a:ext cx="3200400" cy="822960"/>
          </a:xfrm>
          <a:prstGeom prst="rect">
            <a:avLst/>
          </a:prstGeom>
          <a:solidFill>
            <a:srgbClr val="0F0A1E"/>
          </a:solidFill>
          <a:ln w="12700">
            <a:solidFill>
              <a:srgbClr val="4A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5FF"/>
                </a:solidFill>
                <a:latin typeface="Calibri"/>
              </a:defRPr>
            </a:pPr>
            <a:r>
              <a:t>PLATFORMS DEPLOYED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303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Android &amp; Web (iOS Planned)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2194560"/>
            <a:ext cx="6126480" cy="3840480"/>
          </a:xfrm>
          <a:prstGeom prst="rect">
            <a:avLst/>
          </a:prstGeom>
          <a:solidFill>
            <a:srgbClr val="1E143B"/>
          </a:solidFill>
          <a:ln w="12700">
            <a:solidFill>
              <a:srgbClr val="4A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4688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🚀 Initial Performance Indicators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017520"/>
            <a:ext cx="5577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→ Over 1,000+ completed habit stacks recorded in early closed tests.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→ 60% Week-1 Active User retention in initial beta cohort.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→ Highly requested Private Tribe feature integrated via feedback.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→ Zero system crashes reported during recent production cycles.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Positioning Against Global Trackers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8288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031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920240"/>
                <a:gridCol w="1920240"/>
                <a:gridCol w="1920240"/>
                <a:gridCol w="192024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Moat / Feature</a:t>
                      </a:r>
                    </a:p>
                  </a:txBody>
                  <a:tcPr>
                    <a:solidFill>
                      <a:srgbClr val="1E1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Emerge</a:t>
                      </a:r>
                    </a:p>
                  </a:txBody>
                  <a:tcPr>
                    <a:solidFill>
                      <a:srgbClr val="1E1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Habitica</a:t>
                      </a:r>
                    </a:p>
                  </a:txBody>
                  <a:tcPr>
                    <a:solidFill>
                      <a:srgbClr val="1E1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Fabulous</a:t>
                      </a:r>
                    </a:p>
                  </a:txBody>
                  <a:tcPr>
                    <a:solidFill>
                      <a:srgbClr val="1E1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Streaks</a:t>
                      </a:r>
                    </a:p>
                  </a:txBody>
                  <a:tcPr>
                    <a:solidFill>
                      <a:srgbClr val="1E14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Identity-First Psychology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676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No (Outcome-focused)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No (Task-focused)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No (Goal-focused)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Living Visual Worlds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676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 (Pixel Art)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Behavior Coaching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676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Naira/Local Pricing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676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No ($4.99/mo)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No ($12.99/mo)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No (Paid App Store)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B2B Corp Challenges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676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Offline-First Sync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676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No (Heavy latency)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676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676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GO-TO-MARKET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Our Three-Phase Acquisition Flywheel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8288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3383280" cy="3657600"/>
          </a:xfrm>
          <a:prstGeom prst="rect">
            <a:avLst/>
          </a:prstGeom>
          <a:solidFill>
            <a:srgbClr val="1E143B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  <a:latin typeface="Calibri"/>
              </a:defRPr>
            </a:pPr>
            <a:r>
              <a:t>Phase 1: Creator Blueprints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Partnering with top wellness, gym, and career influencers to publish premium routine plans directly on the app, drawing their audiences 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194560"/>
            <a:ext cx="3383280" cy="3657600"/>
          </a:xfrm>
          <a:prstGeom prst="rect">
            <a:avLst/>
          </a:prstGeom>
          <a:solidFill>
            <a:srgbClr val="1E143B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Phase 2: Social Tribes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0896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Viral loops driven by in-app group challenges. Members share referral codes to form private challenge tribes and win brand affiliate rewards.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194560"/>
            <a:ext cx="3383280" cy="3657600"/>
          </a:xfrm>
          <a:prstGeom prst="rect">
            <a:avLst/>
          </a:prstGeom>
          <a:solidFill>
            <a:srgbClr val="1E143B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Phase 3: B2B 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Offering customized employee health/habit check dashboards for corporate partners, generating recurring corporate sales.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Leadership &amp; Core Planned Hires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8288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4114800" cy="4114800"/>
          </a:xfrm>
          <a:prstGeom prst="rect">
            <a:avLst/>
          </a:prstGeom>
          <a:solidFill>
            <a:srgbClr val="1E143B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Sole 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Systems Architect &amp;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→ Built the complete Flutter application frontend.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→ Designed the Firebase Cloud Function backend architecture.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→ Deployed initial Android and Web MVP releases.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103120"/>
            <a:ext cx="6126480" cy="1280160"/>
          </a:xfrm>
          <a:prstGeom prst="rect">
            <a:avLst/>
          </a:prstGeom>
          <a:solidFill>
            <a:srgbClr val="1E143B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22860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Marketing Expert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6060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Drives local growth, manages creator programs, structures affiliate partnerships.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3520439"/>
            <a:ext cx="6126480" cy="1280160"/>
          </a:xfrm>
          <a:prstGeom prst="rect">
            <a:avLst/>
          </a:prstGeom>
          <a:solidFill>
            <a:srgbClr val="1E143B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3703319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Rive Animator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4023359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Builds high-performance interactive RPG character &amp; world animations.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4937760"/>
            <a:ext cx="6126480" cy="1280160"/>
          </a:xfrm>
          <a:prstGeom prst="rect">
            <a:avLst/>
          </a:prstGeom>
          <a:solidFill>
            <a:srgbClr val="1E143B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51206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Business Consultant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544068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Opens corporate channels, secures B2B pilot licenses, guides compliance.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FINANCIAL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3-Year Conservative Growth Projections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8288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031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377440"/>
                <a:gridCol w="2468880"/>
                <a:gridCol w="246888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Metric / Revenue Stream</a:t>
                      </a:r>
                    </a:p>
                  </a:txBody>
                  <a:tcPr>
                    <a:solidFill>
                      <a:srgbClr val="1E1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1E1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1E1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1E14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Active Users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50,000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250,000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1,000,000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Premium Conv. Rate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Premium Users (Pro)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1,500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12,500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70,000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Subscription Rev. (₦)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₦45,000,000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₦330,000,000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₦1,680,000,000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 &amp; Affiliate Rev. (₦)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₦15,000,000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₦95,000,000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₦372,000,000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REVENUE (₦)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₦60,000,000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₦425,000,000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₦2,052,000,000</a:t>
                      </a:r>
                    </a:p>
                  </a:txBody>
                  <a:tcPr>
                    <a:solidFill>
                      <a:srgbClr val="0F0A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Pre-Seed Ask: ₦10,000,000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8288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383280" cy="2011680"/>
          </a:xfrm>
          <a:prstGeom prst="rect">
            <a:avLst/>
          </a:prstGeom>
          <a:solidFill>
            <a:srgbClr val="1E143B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Calibri"/>
              </a:defRPr>
            </a:pPr>
            <a:r>
              <a:t>50% - Marketing &amp;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₦5,000,000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Creator blueprint onboarding, local user acquisition campaigns, app store optimization (ASO).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03120"/>
            <a:ext cx="3383280" cy="2011680"/>
          </a:xfrm>
          <a:prstGeom prst="rect">
            <a:avLst/>
          </a:prstGeom>
          <a:solidFill>
            <a:srgbClr val="1E143B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Calibri"/>
              </a:defRPr>
            </a:pPr>
            <a:r>
              <a:t>30% - Further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₦3,000,000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Contracting a Rive animator, final iOS app deployment, automated testing suite expansion.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103120"/>
            <a:ext cx="3383280" cy="2011680"/>
          </a:xfrm>
          <a:prstGeom prst="rect">
            <a:avLst/>
          </a:prstGeom>
          <a:solidFill>
            <a:srgbClr val="1E143B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Calibri"/>
              </a:defRPr>
            </a:pPr>
            <a:r>
              <a:t>20% - B2B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₦2,000,000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5468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Developing custom company challenge dashboards, structuring enterprise marketing collateral.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solidFill>
            <a:srgbClr val="1E143B"/>
          </a:solidFill>
          <a:ln w="12700">
            <a:solidFill>
              <a:srgbClr val="4A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8056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18-Month Target Milestones Following Funding Ask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4937760"/>
            <a:ext cx="2377440" cy="1097280"/>
          </a:xfrm>
          <a:prstGeom prst="rect">
            <a:avLst/>
          </a:prstGeom>
          <a:solidFill>
            <a:srgbClr val="0F0A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074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250K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5321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Total Active Users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4937760"/>
            <a:ext cx="2377440" cy="1097280"/>
          </a:xfrm>
          <a:prstGeom prst="rect">
            <a:avLst/>
          </a:prstGeom>
          <a:solidFill>
            <a:srgbClr val="0F0A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5074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5321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Premium Conv.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79" y="4937760"/>
            <a:ext cx="2377440" cy="1097280"/>
          </a:xfrm>
          <a:prstGeom prst="rect">
            <a:avLst/>
          </a:prstGeom>
          <a:solidFill>
            <a:srgbClr val="0F0A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19" y="5074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₦425M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19" y="55321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Annual Revenue Target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799" y="4937760"/>
            <a:ext cx="2377440" cy="1097280"/>
          </a:xfrm>
          <a:prstGeom prst="rect">
            <a:avLst/>
          </a:prstGeom>
          <a:solidFill>
            <a:srgbClr val="0F0A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39" y="5074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39" y="55321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Launch &amp; App Store Presence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549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EMERGE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103120"/>
            <a:ext cx="301752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8549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D700"/>
                </a:solidFill>
                <a:latin typeface="Calibri"/>
              </a:defRPr>
            </a:pPr>
            <a:r>
              <a:t>Tiny changes. Remarkable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00400"/>
            <a:ext cx="7616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Thank you for your time and consideration.</a:t>
            </a:r>
            <a:br/>
            <a:r>
              <a:t>Join us in building the next generation of habit and identity transformation.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480560"/>
            <a:ext cx="5760720" cy="1920240"/>
          </a:xfrm>
          <a:prstGeom prst="rect">
            <a:avLst/>
          </a:prstGeom>
          <a:solidFill>
            <a:srgbClr val="1E143B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4663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Get In Touch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507492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🌐  tradeflash-l2966.web.app</a:t>
            </a:r>
            <a:br/>
            <a:r>
              <a:t>📧  joeukpai55@gmail.com</a:t>
            </a:r>
            <a:br/>
            <a:r>
              <a:t>📞  09013213794</a:t>
            </a:r>
            <a:br/>
            <a:br/>
            <a:r>
              <a:t>Built with ❤️ from Nigeria, for the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