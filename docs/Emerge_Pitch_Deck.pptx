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39" autoAdjust="0"/>
    <p:restoredTop sz="94660"/>
  </p:normalViewPr>
  <p:slideViewPr>
    <p:cSldViewPr snapToGrid="0" snapToObjects="1">
      <p:cViewPr varScale="1">
        <p:scale>
          <a:sx n="69" d="100"/>
          <a:sy n="69" d="100"/>
        </p:scale>
        <p:origin x="1028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mailto:joeukpai55@gmail.com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Calibri"/>
              </a:defRPr>
            </a:pPr>
            <a:r>
              <a:t>EMERGE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2560320"/>
            <a:ext cx="30175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D700"/>
                </a:solidFill>
                <a:latin typeface="Calibri"/>
              </a:defRPr>
            </a:pPr>
            <a:r>
              <a:t>The Identity-First Habit 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  <a:latin typeface="Calibri"/>
              </a:defRPr>
            </a:pPr>
            <a:r>
              <a:t>Transforming who you are, one vote at a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31379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  <a:latin typeface="Calibri"/>
              </a:defRPr>
            </a:pPr>
            <a:r>
              <a:rPr dirty="0"/>
              <a:t>Investor Pitch Deck  •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760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A3080"/>
                </a:solidFill>
                <a:latin typeface="Calibri"/>
              </a:defRPr>
            </a:pPr>
            <a:r>
              <a:rPr dirty="0"/>
              <a:t>Flutter • Firebase • AI-Powered Behavioral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Habit Apps Are Broken. Here's Why.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828800" cy="381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2286000"/>
            <a:ext cx="3200400" cy="2560320"/>
          </a:xfrm>
          <a:prstGeom prst="rect">
            <a:avLst/>
          </a:prstGeom>
          <a:solidFill>
            <a:srgbClr val="1E143B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6B6B"/>
                </a:solidFill>
                <a:latin typeface="Calibri"/>
              </a:defRPr>
            </a:pPr>
            <a:r>
              <a:t>92%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83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Failure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8404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of people abandon New Year's</a:t>
            </a:r>
            <a:br/>
            <a:r>
              <a:t>resolutions by February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286000"/>
            <a:ext cx="3200400" cy="2560320"/>
          </a:xfrm>
          <a:prstGeom prst="rect">
            <a:avLst/>
          </a:prstGeom>
          <a:solidFill>
            <a:srgbClr val="1E143B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2560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6B6B"/>
                </a:solidFill>
                <a:latin typeface="Calibri"/>
              </a:defRPr>
            </a:pPr>
            <a: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383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Churn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8404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rPr dirty="0"/>
              <a:t>of habit tracker users quit</a:t>
            </a:r>
            <a:br>
              <a:rPr dirty="0"/>
            </a:br>
            <a:r>
              <a:rPr dirty="0"/>
              <a:t>within the first 30 days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86000"/>
            <a:ext cx="3200400" cy="2560320"/>
          </a:xfrm>
          <a:prstGeom prst="rect">
            <a:avLst/>
          </a:prstGeom>
          <a:solidFill>
            <a:srgbClr val="1E143B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1040" y="2560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6B6B"/>
                </a:solidFill>
                <a:latin typeface="Calibri"/>
              </a:defRPr>
            </a:pPr>
            <a:r>
              <a:t>₦0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383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Real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8404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rPr dirty="0"/>
              <a:t>Most apps track outcomes,</a:t>
            </a:r>
            <a:br>
              <a:rPr dirty="0"/>
            </a:br>
            <a:r>
              <a:rPr dirty="0"/>
              <a:t>not identity transformation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The root cause: Current apps focus on OUTCOMES ("I want to lose weight") instead of IDENTITY ("I am an athlete").</a:t>
            </a:r>
            <a:br/>
            <a:r>
              <a:t>They neglect the deepest layer of behavior change — who you believe you 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Emerge: Your Life as an RPG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8288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Emerge is not a tracker — it's an Identity Engine.</a:t>
            </a:r>
            <a:br/>
            <a:r>
              <a:t>Built on the science of Atomic Habits, it transforms the invisible accumulation of small actions into a visible, gamified journey of self-transformation.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2560320" cy="2926080"/>
          </a:xfrm>
          <a:prstGeom prst="rect">
            <a:avLst/>
          </a:prstGeom>
          <a:solidFill>
            <a:srgbClr val="1E143B"/>
          </a:solidFill>
          <a:ln w="12700">
            <a:solidFill>
              <a:srgbClr val="4A3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Calibri"/>
              </a:defRPr>
            </a:pPr>
            <a:r>
              <a:t>Identity-First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Users don't set goals.</a:t>
            </a:r>
            <a:br/>
            <a:r>
              <a:t>They choose who they</a:t>
            </a:r>
            <a:br/>
            <a:r>
              <a:t>want to BECOME.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3200400"/>
            <a:ext cx="2560320" cy="2926080"/>
          </a:xfrm>
          <a:prstGeom prst="rect">
            <a:avLst/>
          </a:prstGeom>
          <a:solidFill>
            <a:srgbClr val="1E143B"/>
          </a:solidFill>
          <a:ln w="12700">
            <a:solidFill>
              <a:srgbClr val="4A3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749040" y="33832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🏙️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4023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Calibri"/>
              </a:defRPr>
            </a:pPr>
            <a:r>
              <a:t>Living Worlds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4572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Cities grow &amp; forests bloom</a:t>
            </a:r>
            <a:br/>
            <a:r>
              <a:t>with every habit completed.</a:t>
            </a:r>
            <a:br/>
            <a:r>
              <a:t>Decay shows neglect.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3200400"/>
            <a:ext cx="2560320" cy="2926080"/>
          </a:xfrm>
          <a:prstGeom prst="rect">
            <a:avLst/>
          </a:prstGeom>
          <a:solidFill>
            <a:srgbClr val="1E143B"/>
          </a:solidFill>
          <a:ln w="12700">
            <a:solidFill>
              <a:srgbClr val="4A3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33832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🗳️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023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Calibri"/>
              </a:defRPr>
            </a:pPr>
            <a:r>
              <a:t>Vote 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572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Every habit is a "vote"</a:t>
            </a:r>
            <a:br/>
            <a:r>
              <a:t>for your desired identity.</a:t>
            </a:r>
            <a:br/>
            <a:r>
              <a:t>Evidence, not willpower.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3200400"/>
            <a:ext cx="2560320" cy="2926080"/>
          </a:xfrm>
          <a:prstGeom prst="rect">
            <a:avLst/>
          </a:prstGeom>
          <a:solidFill>
            <a:srgbClr val="1E143B"/>
          </a:solidFill>
          <a:ln w="12700">
            <a:solidFill>
              <a:srgbClr val="4A3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18320" y="33832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4023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Calibri"/>
              </a:defRPr>
            </a:pPr>
            <a:r>
              <a:t>AI Life Coach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4572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Gemini-powered coaching</a:t>
            </a:r>
            <a:br/>
            <a:r>
              <a:t>that adapts difficulty</a:t>
            </a:r>
            <a:br/>
            <a:r>
              <a:t>and reinforces identity.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Calibri"/>
              </a:defRPr>
            </a:pPr>
            <a:r>
              <a:t>THE SCIENCE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Four Laws of Behavior Change → UX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828800" cy="381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2103120"/>
            <a:ext cx="5303520" cy="2011680"/>
          </a:xfrm>
          <a:prstGeom prst="rect">
            <a:avLst/>
          </a:prstGeom>
          <a:solidFill>
            <a:srgbClr val="1E143B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5FF"/>
                </a:solidFill>
                <a:latin typeface="Calibri"/>
              </a:defRPr>
            </a:pPr>
            <a:r>
              <a:t>1st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MAKE IT OBVIOUS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1752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Context-aware dashboards that change by time of day.</a:t>
            </a:r>
            <a:br/>
            <a:r>
              <a:t>Habit Stacking: "After [coffee], I will [meditate]."</a:t>
            </a:r>
            <a:br/>
            <a:r>
              <a:t>Home screen widgets keep cues visible.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03120"/>
            <a:ext cx="5303520" cy="2011680"/>
          </a:xfrm>
          <a:prstGeom prst="rect">
            <a:avLst/>
          </a:prstGeom>
          <a:solidFill>
            <a:srgbClr val="1E143B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22860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2nd LAW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560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MAKE IT ATTRACTIVE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01752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Gamified identity layers with XP &amp; leveling.</a:t>
            </a:r>
            <a:br/>
            <a:r>
              <a:t>Temptation Bundling: Lock rewards behind habits.</a:t>
            </a:r>
            <a:br/>
            <a:r>
              <a:t>Creator Blueprints from influencers.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480560"/>
            <a:ext cx="5303520" cy="2011680"/>
          </a:xfrm>
          <a:prstGeom prst="rect">
            <a:avLst/>
          </a:prstGeom>
          <a:solidFill>
            <a:srgbClr val="1E143B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3rd LAW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937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MAKE IT EASY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3949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Two-Minute Rule mode for every habit.</a:t>
            </a:r>
            <a:br/>
            <a:r>
              <a:t>One-tap logging, passive HealthKit tracking.</a:t>
            </a:r>
            <a:br/>
            <a:r>
              <a:t>Environment priming prompts.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480560"/>
            <a:ext cx="5303520" cy="2011680"/>
          </a:xfrm>
          <a:prstGeom prst="rect">
            <a:avLst/>
          </a:prstGeom>
          <a:solidFill>
            <a:srgbClr val="1E143B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0" y="4663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6B6B"/>
                </a:solidFill>
                <a:latin typeface="Calibri"/>
              </a:defRPr>
            </a:pPr>
            <a:r>
              <a:t>4th LAW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937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MAKE IT SATISFYING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3949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Instant visual growth: cities build, forests bloom.</a:t>
            </a:r>
            <a:br/>
            <a:r>
              <a:t>Cinematic weekly/monthly recap videos.</a:t>
            </a:r>
            <a:br/>
            <a:r>
              <a:t>Streak protection with "Never Miss Twice" rule.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Calibri"/>
              </a:defRPr>
            </a:pPr>
            <a:r>
              <a:t>PRODUCT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Onboarding: The RPG Character Creation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182880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2103120"/>
            <a:ext cx="5303520" cy="4389120"/>
          </a:xfrm>
          <a:prstGeom prst="rect">
            <a:avLst/>
          </a:prstGeom>
          <a:solidFill>
            <a:srgbClr val="1E143B"/>
          </a:solidFill>
          <a:ln w="12700">
            <a:solidFill>
              <a:srgbClr val="4A3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Calibri"/>
              </a:defRPr>
            </a:pPr>
            <a:r>
              <a:t>🎨 The "Future Self"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We don't ask: "What habits do you want to track?"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089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We ask: "Who do you wish to become?"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657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E5FF"/>
                </a:solidFill>
                <a:latin typeface="Calibri"/>
              </a:defRPr>
            </a:pPr>
            <a:r>
              <a:t>⚡ The Athlete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657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Physical vitality, endurance, strength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069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E5FF"/>
                </a:solidFill>
                <a:latin typeface="Calibri"/>
              </a:defRPr>
            </a:pPr>
            <a:r>
              <a:t>🎨 The Creator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4069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Output, deep work, expression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480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E5FF"/>
                </a:solidFill>
                <a:latin typeface="Calibri"/>
              </a:defRPr>
            </a:pPr>
            <a:r>
              <a:t>📚 The Scholar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4480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Learning, reading, cognitive expansion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8920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E5FF"/>
                </a:solidFill>
                <a:latin typeface="Calibri"/>
              </a:defRPr>
            </a:pPr>
            <a:r>
              <a:t>🧘 The Stoic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4892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Mindfulness, emotional regulation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303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E5FF"/>
                </a:solidFill>
                <a:latin typeface="Calibri"/>
              </a:defRPr>
            </a:pPr>
            <a:r>
              <a:t>🌍 The Explorer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Adventure, curiosity, growth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715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E5FF"/>
                </a:solidFill>
                <a:latin typeface="Calibri"/>
              </a:defRPr>
            </a:pPr>
            <a:r>
              <a:t>🔥 The Zealot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5715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Passion, discipline, intensity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103120"/>
            <a:ext cx="5029200" cy="4389120"/>
          </a:xfrm>
          <a:prstGeom prst="rect">
            <a:avLst/>
          </a:prstGeom>
          <a:solidFill>
            <a:srgbClr val="1E143B"/>
          </a:solidFill>
          <a:ln w="12700">
            <a:solidFill>
              <a:srgbClr val="4A3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7512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Calibri"/>
              </a:defRPr>
            </a:pPr>
            <a:r>
              <a:t>🔗 Habit Stack Builder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743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Visual drag-and-drop programming of daily routines.</a:t>
            </a:r>
            <a:br/>
            <a:r>
              <a:t>Anchored to existing behaviors for maximum adherence.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3566160"/>
            <a:ext cx="4480560" cy="502920"/>
          </a:xfrm>
          <a:prstGeom prst="rect">
            <a:avLst/>
          </a:prstGeom>
          <a:solidFill>
            <a:srgbClr val="150F2E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0" y="36118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E5FF"/>
                </a:solidFill>
                <a:latin typeface="Calibri"/>
              </a:defRPr>
            </a:pPr>
            <a:r>
              <a:t>ANCHOR: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611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☕ Pour Coffee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3611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Existing habit (bedrock)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0" y="4206240"/>
            <a:ext cx="4480560" cy="502920"/>
          </a:xfrm>
          <a:prstGeom prst="rect">
            <a:avLst/>
          </a:prstGeom>
          <a:solidFill>
            <a:srgbClr val="150F2E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0" y="42519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E676"/>
                </a:solidFill>
                <a:latin typeface="Calibri"/>
              </a:defRPr>
            </a:pPr>
            <a:r>
              <a:t>STACK: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251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🧘 Meditate 2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4251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New habit (snaps on top)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4846320"/>
            <a:ext cx="4480560" cy="502920"/>
          </a:xfrm>
          <a:prstGeom prst="rect">
            <a:avLst/>
          </a:prstGeom>
          <a:solidFill>
            <a:srgbClr val="150F2E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58000" y="4892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E676"/>
                </a:solidFill>
                <a:latin typeface="Calibri"/>
              </a:defRPr>
            </a:pPr>
            <a:r>
              <a:t>STACK: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4892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📝 Journal 1 page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4892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Identity: Writer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0" y="5486400"/>
            <a:ext cx="4480560" cy="502920"/>
          </a:xfrm>
          <a:prstGeom prst="rect">
            <a:avLst/>
          </a:prstGeom>
          <a:solidFill>
            <a:srgbClr val="150F2E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58000" y="55321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E676"/>
                </a:solidFill>
                <a:latin typeface="Calibri"/>
              </a:defRPr>
            </a:pPr>
            <a:r>
              <a:t>STACK: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5532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💪 10 Push-ups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55321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Identity: Athlete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Calibri"/>
              </a:defRPr>
            </a:pPr>
            <a:r>
              <a:t>THE SECRET SAUCE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Dynamic Visual Progression: See Your Life Transform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18288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2103120"/>
            <a:ext cx="3474720" cy="4389120"/>
          </a:xfrm>
          <a:prstGeom prst="rect">
            <a:avLst/>
          </a:prstGeom>
          <a:solidFill>
            <a:srgbClr val="1E143B"/>
          </a:solidFill>
          <a:ln w="12700">
            <a:solidFill>
              <a:srgbClr val="4A3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Calibri"/>
              </a:defRPr>
            </a:pPr>
            <a:r>
              <a:t>🦸 Avatar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→ Morphs based on real habits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→ Strength habits → muscle definition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→ Intellect habits → focus aura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→ Vitality habits → glow effects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→ Equipment unlocked via identity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votes, NOT purchases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→ 6 archetype-based avatar paths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103120"/>
            <a:ext cx="3474720" cy="4389120"/>
          </a:xfrm>
          <a:prstGeom prst="rect">
            <a:avLst/>
          </a:prstGeom>
          <a:solidFill>
            <a:srgbClr val="1E143B"/>
          </a:solidFill>
          <a:ln w="12700">
            <a:solidFill>
              <a:srgbClr val="4A3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22860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5FF"/>
                </a:solidFill>
                <a:latin typeface="Calibri"/>
              </a:defRPr>
            </a:pPr>
            <a:r>
              <a:t>🏙️ The Living City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83464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→ Deep Work → builds skyscrapers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→ Social habits → parks &amp; bridges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→ Financial habits → infrastructure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→ "Perfect Day" → festival events!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DECAY MECHANICS: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→ Miss 3 days: weeds, overcast sky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→ One action lifts the fog instantly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2103120"/>
            <a:ext cx="3474720" cy="4389120"/>
          </a:xfrm>
          <a:prstGeom prst="rect">
            <a:avLst/>
          </a:prstGeom>
          <a:solidFill>
            <a:srgbClr val="1E143B"/>
          </a:solidFill>
          <a:ln w="12700">
            <a:solidFill>
              <a:srgbClr val="4A3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676"/>
                </a:solidFill>
                <a:latin typeface="Calibri"/>
              </a:defRPr>
            </a:pPr>
            <a:r>
              <a:t>🌲 The Evolving Forest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83464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→ Meditation → plants ancient trees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→ Hydration → fills rivers &amp; lakes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→ Exercise → fauna appear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→ Streaks → "Superbloom" events!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WORLD THEMES: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→ Pro users select custom themes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→ Procedural generation via Flame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 ₦18+ Trillion Global Market, Grossly Underserved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182880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2103120"/>
            <a:ext cx="3291840" cy="1188720"/>
          </a:xfrm>
          <a:prstGeom prst="rect">
            <a:avLst/>
          </a:prstGeom>
          <a:solidFill>
            <a:srgbClr val="1E143B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D700"/>
                </a:solidFill>
                <a:latin typeface="Calibri"/>
              </a:defRPr>
            </a:pPr>
            <a:r>
              <a:t>₦17.6 Trillion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Global Habit Tracker Market (2025)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103120"/>
            <a:ext cx="3291840" cy="1188720"/>
          </a:xfrm>
          <a:prstGeom prst="rect">
            <a:avLst/>
          </a:prstGeom>
          <a:solidFill>
            <a:srgbClr val="1E143B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40" y="22860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E5FF"/>
                </a:solidFill>
                <a:latin typeface="Calibri"/>
              </a:defRPr>
            </a:pPr>
            <a:r>
              <a:t>₦67.8 Trillion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Projected by 2035 (14.4% CAGR)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2103120"/>
            <a:ext cx="3474720" cy="1188720"/>
          </a:xfrm>
          <a:prstGeom prst="rect">
            <a:avLst/>
          </a:prstGeom>
          <a:solidFill>
            <a:srgbClr val="1E143B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22860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E676"/>
                </a:solidFill>
                <a:latin typeface="Calibri"/>
              </a:defRPr>
            </a:pPr>
            <a:r>
              <a:t>₦2 Trillion+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834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Nigeria Digital Health Market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657600"/>
            <a:ext cx="5303520" cy="2926080"/>
          </a:xfrm>
          <a:prstGeom prst="rect">
            <a:avLst/>
          </a:prstGeom>
          <a:solidFill>
            <a:srgbClr val="1E143B"/>
          </a:solidFill>
          <a:ln w="12700">
            <a:solidFill>
              <a:srgbClr val="4A3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840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Calibri"/>
              </a:defRPr>
            </a:pPr>
            <a:r>
              <a:t>🇳🇬 Nigeria: The Untapped Goldmine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2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→ 120M+ smartphone users (15% annual growth)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→ Online Fitness market: ₦209B → ₦2T by 2033 (29% CAGR)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→ Mental Wellness market: ₦383B by 2033 (9.8% CAGR)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→ ZERO identity-first habit apps in the market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→ Young population: 60%+ under 25, digital-native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→ Growing middle class embracing self-improvement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657600"/>
            <a:ext cx="5303520" cy="2926080"/>
          </a:xfrm>
          <a:prstGeom prst="rect">
            <a:avLst/>
          </a:prstGeom>
          <a:solidFill>
            <a:srgbClr val="1E143B"/>
          </a:solidFill>
          <a:ln w="12700">
            <a:solidFill>
              <a:srgbClr val="4A3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0" y="3840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5FF"/>
                </a:solidFill>
                <a:latin typeface="Calibri"/>
              </a:defRPr>
            </a:pPr>
            <a:r>
              <a:t>🌍 Global Competitive Landscape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38912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→ Habitica: Gamified but no identity layer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→ Streaks: Simple but no social/visual world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→ Fabulous: Beautiful but subscription-locked basics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→ Forest: Single metaphor, no identity engine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→ NONE combine: Identity + Worlds + AI + Social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→ Emerge is the FIRST identity-first ecosystem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Calibri"/>
              </a:defRPr>
            </a:pPr>
            <a:r>
              <a:t>MONETIZATION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Emerge Pro: Premium Model Built for Nigeria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182880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2103120"/>
            <a:ext cx="3474720" cy="2011680"/>
          </a:xfrm>
          <a:prstGeom prst="rect">
            <a:avLst/>
          </a:prstGeom>
          <a:solidFill>
            <a:srgbClr val="1E143B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5FF"/>
                </a:solidFill>
                <a:latin typeface="Calibri"/>
              </a:defRPr>
            </a:pPr>
            <a:r>
              <a:t>MONTHLY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₦2,500/mo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~$1.85 USD</a:t>
            </a:r>
            <a:br/>
            <a:r>
              <a:t>Affordable entry point</a:t>
            </a:r>
            <a:br/>
            <a:r>
              <a:t>below Spotify Nigeria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2103120"/>
            <a:ext cx="3474720" cy="2011680"/>
          </a:xfrm>
          <a:prstGeom prst="rect">
            <a:avLst/>
          </a:prstGeom>
          <a:solidFill>
            <a:srgbClr val="1E143B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240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D700"/>
                </a:solidFill>
                <a:latin typeface="Calibri"/>
              </a:defRPr>
            </a:pPr>
            <a:r>
              <a:t>ANNUAL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5603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₦20,000/yr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20040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~$14.80 USD</a:t>
            </a:r>
            <a:br/>
            <a:r>
              <a:t>Save ₦10,000 (33% off)</a:t>
            </a:r>
            <a:br/>
            <a:r>
              <a:t>4 months FREE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2103120"/>
            <a:ext cx="3474720" cy="2011680"/>
          </a:xfrm>
          <a:prstGeom prst="rect">
            <a:avLst/>
          </a:prstGeom>
          <a:solidFill>
            <a:srgbClr val="1E143B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0" y="2240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676"/>
                </a:solidFill>
                <a:latin typeface="Calibri"/>
              </a:defRPr>
            </a:pPr>
            <a:r>
              <a:t>LIFETIME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5603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₦65,000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20040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~$48.15 USD</a:t>
            </a:r>
            <a:br/>
            <a:r>
              <a:t>One-time purchase</a:t>
            </a:r>
            <a:br/>
            <a:r>
              <a:t>Forever premium access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389120"/>
            <a:ext cx="10698480" cy="2286000"/>
          </a:xfrm>
          <a:prstGeom prst="rect">
            <a:avLst/>
          </a:prstGeom>
          <a:solidFill>
            <a:srgbClr val="1E143B"/>
          </a:solidFill>
          <a:ln w="12700">
            <a:solidFill>
              <a:srgbClr val="4A3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480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Feature Comparison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892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Feature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892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D700"/>
                </a:solidFill>
                <a:latin typeface="Calibri"/>
              </a:defRPr>
            </a:pPr>
            <a:r>
              <a:t>Free 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892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D700"/>
                </a:solidFill>
                <a:latin typeface="Calibri"/>
              </a:defRPr>
            </a:pPr>
            <a:r>
              <a:t>Emerge Pro 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1663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Active Habits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1663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Calibri"/>
              </a:defRPr>
            </a:pPr>
            <a:r>
              <a:t>3 Max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51663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D700"/>
                </a:solidFill>
                <a:latin typeface="Calibri"/>
              </a:defRPr>
            </a:pPr>
            <a:r>
              <a:t>Unlimited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394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Habit Stacks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53949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Calibri"/>
              </a:defRPr>
            </a:pPr>
            <a:r>
              <a:t>1 Morning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53949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D700"/>
                </a:solidFill>
                <a:latin typeface="Calibri"/>
              </a:defRPr>
            </a:pPr>
            <a:r>
              <a:t>Unlimited (AM/PM/Night)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6235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Analytics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56235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Calibri"/>
              </a:defRPr>
            </a:pPr>
            <a:r>
              <a:t>Current Streak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6235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D700"/>
                </a:solidFill>
                <a:latin typeface="Calibri"/>
              </a:defRPr>
            </a:pPr>
            <a:r>
              <a:t>Heatmaps, Trends,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8521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Avatar/World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58521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Calibri"/>
              </a:defRPr>
            </a:pPr>
            <a:r>
              <a:t>Basic Avatar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58521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D700"/>
                </a:solidFill>
                <a:latin typeface="Calibri"/>
              </a:defRPr>
            </a:pPr>
            <a:r>
              <a:t>Pro Skins, Auras, Pets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60807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AI Coach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60807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Calibri"/>
              </a:defRPr>
            </a:pPr>
            <a:r>
              <a:t>Basic Chat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0807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D700"/>
                </a:solidFill>
                <a:latin typeface="Calibri"/>
              </a:defRPr>
            </a:pPr>
            <a:r>
              <a:t>Full History Analysis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63093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Ads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63093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Calibri"/>
              </a:defRPr>
            </a:pPr>
            <a:r>
              <a:t>Banner Ads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63093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D700"/>
                </a:solidFill>
                <a:latin typeface="Calibri"/>
              </a:defRPr>
            </a:pPr>
            <a:r>
              <a:t>Ad-Free 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Calibri"/>
              </a:defRPr>
            </a:pPr>
            <a:r>
              <a:t>REVENUE PROJECTIONS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Path to ₦1 Billion Annual Revenue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182880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2103120"/>
            <a:ext cx="6858000" cy="4389120"/>
          </a:xfrm>
          <a:prstGeom prst="rect">
            <a:avLst/>
          </a:prstGeom>
          <a:solidFill>
            <a:srgbClr val="1E143B"/>
          </a:solidFill>
          <a:ln w="12700">
            <a:solidFill>
              <a:srgbClr val="4A3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700"/>
                </a:solidFill>
                <a:latin typeface="Calibri"/>
              </a:defRPr>
            </a:pPr>
            <a:r>
              <a:t>📊 3-Year Revenue Model (Conservative)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743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D700"/>
                </a:solidFill>
                <a:latin typeface="Calibri"/>
              </a:defRPr>
            </a:pPr>
            <a:r>
              <a:t>Year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743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D700"/>
                </a:solidFill>
                <a:latin typeface="Calibri"/>
              </a:defRPr>
            </a:pPr>
            <a:r>
              <a:t>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743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D700"/>
                </a:solidFill>
                <a:latin typeface="Calibri"/>
              </a:defRPr>
            </a:pPr>
            <a:r>
              <a:t>Year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127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Total 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1272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50,000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1272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250,000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31272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1,000,000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51129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Premium Conv.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51129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51129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51129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953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Premium Users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89534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1,500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89534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12,500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389534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70,000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2793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Avg Revenue/User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2793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₦2,500/mo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2793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₦2,200/mo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2793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₦2,000/mo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663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Subscription Rev.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663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₦45M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663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₦330M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4663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₦1.68B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0474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Ad Revenue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04748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₦15M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504748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₦95M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504748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₦372M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543153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Consumables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43153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₦5M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543153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₦25M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543153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₦100M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5815583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TOTAL REVENUE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5815583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D700"/>
                </a:solidFill>
                <a:latin typeface="Calibri"/>
              </a:defRPr>
            </a:pPr>
            <a:r>
              <a:t>₦65M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5815583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D700"/>
                </a:solidFill>
                <a:latin typeface="Calibri"/>
              </a:defRPr>
            </a:pPr>
            <a:r>
              <a:t>₦450M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815583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D700"/>
                </a:solidFill>
                <a:latin typeface="Calibri"/>
              </a:defRPr>
            </a:pPr>
            <a:r>
              <a:t>₦2.15B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46720" y="2103120"/>
            <a:ext cx="3474720" cy="4389120"/>
          </a:xfrm>
          <a:prstGeom prst="rect">
            <a:avLst/>
          </a:prstGeom>
          <a:solidFill>
            <a:srgbClr val="1E143B"/>
          </a:solidFill>
          <a:ln w="12700">
            <a:solidFill>
              <a:srgbClr val="4A3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21040" y="22860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700"/>
                </a:solidFill>
                <a:latin typeface="Calibri"/>
              </a:defRPr>
            </a:pPr>
            <a:r>
              <a:t>💰 Revenue Streams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21040" y="2834640"/>
            <a:ext cx="3017520" cy="1005840"/>
          </a:xfrm>
          <a:prstGeom prst="rect">
            <a:avLst/>
          </a:prstGeom>
          <a:solidFill>
            <a:srgbClr val="150F2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503920" y="2926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Subscriptions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32720" y="2926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D700"/>
                </a:solidFill>
                <a:latin typeface="Calibri"/>
              </a:defRPr>
            </a:pPr>
            <a:r>
              <a:t>78%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3246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Monthly, Annual &amp; Lifetime</a:t>
            </a:r>
            <a:br/>
            <a:r>
              <a:t>premium subscriptions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21040" y="4023360"/>
            <a:ext cx="3017520" cy="1005840"/>
          </a:xfrm>
          <a:prstGeom prst="rect">
            <a:avLst/>
          </a:prstGeom>
          <a:solidFill>
            <a:srgbClr val="150F2E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503920" y="4114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Advertising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32720" y="4114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E5FF"/>
                </a:solidFill>
                <a:latin typeface="Calibri"/>
              </a:defRPr>
            </a:pPr>
            <a:r>
              <a:t>17%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03920" y="44348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Banner &amp; interstitial ads</a:t>
            </a:r>
            <a:br/>
            <a:r>
              <a:t>for free-tier users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21040" y="5212080"/>
            <a:ext cx="3017520" cy="1005840"/>
          </a:xfrm>
          <a:prstGeom prst="rect">
            <a:avLst/>
          </a:prstGeom>
          <a:solidFill>
            <a:srgbClr val="150F2E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503920" y="5303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Consumables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32720" y="5303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E676"/>
                </a:solidFill>
                <a:latin typeface="Calibri"/>
              </a:defRPr>
            </a:pPr>
            <a:r>
              <a:t>5%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56235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Streak freezes, premium</a:t>
            </a:r>
            <a:br/>
            <a:r>
              <a:t>themes, avatar items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Calibri"/>
              </a:defRPr>
            </a:pPr>
            <a:r>
              <a:t>TRACTION &amp;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We've Already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18288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5303520" cy="4572000"/>
          </a:xfrm>
          <a:prstGeom prst="rect">
            <a:avLst/>
          </a:prstGeom>
          <a:solidFill>
            <a:srgbClr val="1E143B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676"/>
                </a:solidFill>
                <a:latin typeface="Calibri"/>
              </a:defRPr>
            </a:pPr>
            <a:r>
              <a:t>✅ Production-Ready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✅ Full Auth System (Firebase Auth + Google Sign-In)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07791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✅ Identity Onboarding (6 Archetypes + Future Self Studio)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6382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✅ Core Habit Engine (Create, Stack, Complete, Streaks)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1985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✅ Dynamic Timeline Dashboard (Morning/Noon/Night)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75887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✅ RPG Gamification (XP, Levels, Identity Votes)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93192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✅ Living World Visualizer (Flame engine, City + Forest)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8795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✅ AI Life Coach (Gemini-powered, context-aware)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44398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✅ Social Tribes &amp; Community Features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70001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✅ Monetization (RevenueCat + AdMob integrated)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95604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✅ Tutorial System (Identity-first onboarding)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21208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✅ Home Screen Widgets (Cue visibility)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46811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✅ Cross-platform (Android, Web, Windows)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72414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✅ Firebase Crashlytics, Analytics, Remote Config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98017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✅ Cinematic Progress Recaps &amp; Social Sharing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011680"/>
            <a:ext cx="5029200" cy="4572000"/>
          </a:xfrm>
          <a:prstGeom prst="rect">
            <a:avLst/>
          </a:prstGeom>
          <a:solidFill>
            <a:srgbClr val="1E143B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7512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5FF"/>
                </a:solidFill>
                <a:latin typeface="Calibri"/>
              </a:defRPr>
            </a:pPr>
            <a:r>
              <a:t>⚙️ Tech Stack &amp; Architecture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65176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5FF"/>
                </a:solidFill>
                <a:latin typeface="Calibri"/>
              </a:defRPr>
            </a:pPr>
            <a:r>
              <a:t>Framework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6517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Flutter 3.10+ (Impeller)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926079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5FF"/>
                </a:solidFill>
                <a:latin typeface="Calibri"/>
              </a:defRPr>
            </a:pPr>
            <a:r>
              <a:t>Language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2926079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Dart 3.5+ (Strict Null Safety)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20040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5FF"/>
                </a:solidFill>
                <a:latin typeface="Calibri"/>
              </a:defRPr>
            </a:pPr>
            <a:r>
              <a:t>State Mgmt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320040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Riverpod v3 (Code Gen)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747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5FF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4747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Firebase Gen 2 (Full Suite)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749039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5FF"/>
                </a:solidFill>
                <a:latin typeface="Calibri"/>
              </a:defRPr>
            </a:pPr>
            <a:r>
              <a:t>AI Engine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749039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Firebase AI / Gemini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02336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5FF"/>
                </a:solidFill>
                <a:latin typeface="Calibri"/>
              </a:defRPr>
            </a:pPr>
            <a:r>
              <a:t>Game Engine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40233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Flame (Procedural Worlds)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297679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5FF"/>
                </a:solidFill>
                <a:latin typeface="Calibri"/>
              </a:defRPr>
            </a:pPr>
            <a:r>
              <a:t>Payments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297679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RevenueCat SDK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457200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5FF"/>
                </a:solidFill>
                <a:latin typeface="Calibri"/>
              </a:defRPr>
            </a:pPr>
            <a:r>
              <a:t>Ads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57200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Google AdMob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48463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5FF"/>
                </a:solidFill>
                <a:latin typeface="Calibri"/>
              </a:defRPr>
            </a:pPr>
            <a:r>
              <a:t>Navigation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48463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GoRouter (Deep Linking)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512064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5FF"/>
                </a:solidFill>
                <a:latin typeface="Calibri"/>
              </a:defRPr>
            </a:pPr>
            <a:r>
              <a:t>Storage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51206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Hive (Offline-First)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539496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5FF"/>
                </a:solidFill>
                <a:latin typeface="Calibri"/>
              </a:defRPr>
            </a:pPr>
            <a:r>
              <a:t>Notifications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3920" y="5394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FCM + Local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5669279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5FF"/>
                </a:solidFill>
                <a:latin typeface="Calibri"/>
              </a:defRPr>
            </a:pPr>
            <a:r>
              <a:t>Health 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3920" y="5669279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HealthKit/Google Fit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75120" y="594360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5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594360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Clean Architecture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62179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5FF"/>
                </a:solidFill>
                <a:latin typeface="Calibri"/>
              </a:defRPr>
            </a:pPr>
            <a:r>
              <a:t>Version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62179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v1.0.3 (Production)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Calibri"/>
              </a:defRPr>
            </a:pPr>
            <a:r>
              <a:t>GROWTH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Emerge Needs to Reach the Next Level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1828800" cy="381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3383280" cy="4389120"/>
          </a:xfrm>
          <a:prstGeom prst="rect">
            <a:avLst/>
          </a:prstGeom>
          <a:solidFill>
            <a:srgbClr val="1E143B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5FF"/>
                </a:solidFill>
                <a:latin typeface="Calibri"/>
              </a:defRPr>
            </a:pPr>
            <a:r>
              <a:t>PHASE 1: 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Q2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→ iOS App Store 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821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→ Production RevenueCat 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958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→ App Store Optimization (ASO)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7705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→ Performance optimization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245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→ Automated testing suite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720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→ Crashlytics monitoring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5852160"/>
            <a:ext cx="2468880" cy="365760"/>
          </a:xfrm>
          <a:prstGeom prst="rect">
            <a:avLst/>
          </a:prstGeom>
          <a:solidFill>
            <a:srgbClr val="150F2E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5852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5FF"/>
                </a:solidFill>
                <a:latin typeface="Calibri"/>
              </a:defRPr>
            </a:pPr>
            <a:r>
              <a:rPr lang="en-US" dirty="0"/>
              <a:t>Investment: ₦15M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59" y="2011680"/>
            <a:ext cx="3383280" cy="4389120"/>
          </a:xfrm>
          <a:prstGeom prst="rect">
            <a:avLst/>
          </a:prstGeom>
          <a:solidFill>
            <a:srgbClr val="1E143B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63439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Calibri"/>
              </a:defRPr>
            </a:pPr>
            <a:r>
              <a:t>PHASE 2: 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39" y="2423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Q3-Q4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39" y="28346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→ Wearable integrations (Apple Watch, Fitbit)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39" y="31821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→ AR Mirror feature (avatar overlay)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39" y="352958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→ Creator Blueprint marketplace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39" y="387705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→ Advanced AI coaching (full history)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39" y="42245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→ Sponsored challenges partnerships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39" y="45720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→ Referral &amp; viral loop system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37759" y="5852160"/>
            <a:ext cx="2468880" cy="365760"/>
          </a:xfrm>
          <a:prstGeom prst="rect">
            <a:avLst/>
          </a:prstGeom>
          <a:solidFill>
            <a:srgbClr val="150F2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37759" y="5852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D700"/>
                </a:solidFill>
                <a:latin typeface="Calibri"/>
              </a:defRPr>
            </a:pPr>
            <a:r>
              <a:t>Investment: ₦35M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2011680"/>
            <a:ext cx="3383280" cy="4389120"/>
          </a:xfrm>
          <a:prstGeom prst="rect">
            <a:avLst/>
          </a:prstGeom>
          <a:solidFill>
            <a:srgbClr val="1E143B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12480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  <a:latin typeface="Calibri"/>
              </a:defRPr>
            </a:pPr>
            <a:r>
              <a:t>PHASE 3: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2423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28346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→ Family/Corporate Tribe plans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31821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→ Real-world brand partnerships (Nike, etc.)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52958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→ Habit Contract staking system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87705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→ International expansion (Francophone Africa)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2245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→ Metaverse integrations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5720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→ Series A fundraise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0" y="5852160"/>
            <a:ext cx="2468880" cy="365760"/>
          </a:xfrm>
          <a:prstGeom prst="rect">
            <a:avLst/>
          </a:prstGeom>
          <a:solidFill>
            <a:srgbClr val="150F2E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0" y="5852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676"/>
                </a:solidFill>
                <a:latin typeface="Calibri"/>
              </a:defRPr>
            </a:pPr>
            <a:r>
              <a:t>Investment: ₦50M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Pre-Seed: ₦10 Million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82880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rPr dirty="0"/>
              <a:t>To accelerate from MVP to market dominance in the identity-first habit space.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651760"/>
            <a:ext cx="10698480" cy="822960"/>
          </a:xfrm>
          <a:prstGeom prst="rect">
            <a:avLst/>
          </a:prstGeom>
          <a:solidFill>
            <a:srgbClr val="1E143B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Engineering &amp; 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7432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5FF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743200"/>
            <a:ext cx="1371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E5FF"/>
                </a:solidFill>
                <a:latin typeface="Calibri"/>
              </a:defRPr>
            </a:pPr>
            <a:r>
              <a:rPr dirty="0"/>
              <a:t>₦4M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74320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iOS launch, Wearable integrations, AR features, AI coaching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657600"/>
            <a:ext cx="10698480" cy="822960"/>
          </a:xfrm>
          <a:prstGeom prst="rect">
            <a:avLst/>
          </a:prstGeom>
          <a:solidFill>
            <a:srgbClr val="1E143B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37490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Marketing &amp; Growth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7490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Calibri"/>
              </a:defRPr>
            </a:pPr>
            <a:r>
              <a:t>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749040"/>
            <a:ext cx="1371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Calibri"/>
              </a:defRPr>
            </a:pPr>
            <a:r>
              <a:rPr dirty="0"/>
              <a:t>₦3M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74904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ASO, Influencer partnerships, Creator onboarding, Social media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663440"/>
            <a:ext cx="10698480" cy="822960"/>
          </a:xfrm>
          <a:prstGeom prst="rect">
            <a:avLst/>
          </a:prstGeom>
          <a:solidFill>
            <a:srgbClr val="1E143B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4754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Operations &amp; 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7548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  <a:latin typeface="Calibri"/>
              </a:defRPr>
            </a:pPr>
            <a:r>
              <a:t>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754880"/>
            <a:ext cx="1371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E676"/>
                </a:solidFill>
                <a:latin typeface="Calibri"/>
              </a:defRPr>
            </a:pPr>
            <a:r>
              <a:rPr dirty="0"/>
              <a:t>₦2M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475488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Key hires (Designer, Backend Engineer, Community Manager)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669280"/>
            <a:ext cx="10698480" cy="822960"/>
          </a:xfrm>
          <a:prstGeom prst="rect">
            <a:avLst/>
          </a:prstGeom>
          <a:solidFill>
            <a:srgbClr val="1E143B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5760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Legal &amp; Infrastructure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57607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6B6B"/>
                </a:solidFill>
                <a:latin typeface="Calibri"/>
              </a:defRPr>
            </a:pPr>
            <a:r>
              <a:t>10%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5760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₦10M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576072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IP protection, Cloud infrastructure, Compliance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486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Target Milestones (18 Months Post-Funding)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5852160"/>
            <a:ext cx="2560320" cy="1005840"/>
          </a:xfrm>
          <a:prstGeom prst="rect">
            <a:avLst/>
          </a:prstGeom>
          <a:solidFill>
            <a:srgbClr val="1E143B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05840" y="6035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D700"/>
                </a:solidFill>
                <a:latin typeface="Calibri"/>
              </a:defRPr>
            </a:pPr>
            <a:r>
              <a:t>250K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6583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Total Users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66160" y="5852160"/>
            <a:ext cx="2560320" cy="1005840"/>
          </a:xfrm>
          <a:prstGeom prst="rect">
            <a:avLst/>
          </a:prstGeom>
          <a:solidFill>
            <a:srgbClr val="1E143B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840480" y="6035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D700"/>
                </a:solidFill>
                <a:latin typeface="Calibri"/>
              </a:defRPr>
            </a:pPr>
            <a:r>
              <a:t>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6583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Premium Conv.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5852160"/>
            <a:ext cx="2560320" cy="1005840"/>
          </a:xfrm>
          <a:prstGeom prst="rect">
            <a:avLst/>
          </a:prstGeom>
          <a:solidFill>
            <a:srgbClr val="1E143B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75120" y="6035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D700"/>
                </a:solidFill>
                <a:latin typeface="Calibri"/>
              </a:defRPr>
            </a:pPr>
            <a:r>
              <a:t>₦450M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6583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Annual Revenue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5852160"/>
            <a:ext cx="2560320" cy="1005840"/>
          </a:xfrm>
          <a:prstGeom prst="rect">
            <a:avLst/>
          </a:prstGeom>
          <a:solidFill>
            <a:srgbClr val="1E143B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509760" y="6035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D700"/>
                </a:solidFill>
                <a:latin typeface="Calibri"/>
              </a:defRPr>
            </a:pPr>
            <a:r>
              <a:t>4.5★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9760" y="6583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App Store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Calibri"/>
              </a:defRPr>
            </a:pPr>
            <a:r>
              <a:t>COMPETITIVE 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Emerge. Why Now. Why Nigeria.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182880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5303520" cy="2011680"/>
          </a:xfrm>
          <a:prstGeom prst="rect">
            <a:avLst/>
          </a:prstGeom>
          <a:solidFill>
            <a:srgbClr val="1E143B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94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700"/>
                </a:solidFill>
                <a:latin typeface="Calibri"/>
              </a:defRPr>
            </a:pPr>
            <a:r>
              <a:t>IDENTITY-FIRST 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51760"/>
            <a:ext cx="4114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The only app built on identity-based behavioral science.</a:t>
            </a:r>
            <a:br/>
            <a:r>
              <a:t>Not a feature — it's the entire architecture.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011680"/>
            <a:ext cx="5303520" cy="2011680"/>
          </a:xfrm>
          <a:prstGeom prst="rect">
            <a:avLst/>
          </a:prstGeom>
          <a:solidFill>
            <a:srgbClr val="1E143B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194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5FF"/>
                </a:solidFill>
                <a:latin typeface="Calibri"/>
              </a:defRPr>
            </a:pPr>
            <a:r>
              <a:t>PROCEDURAL WORLDS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651760"/>
            <a:ext cx="4114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Flame-engine living cities &amp; forests create emotional</a:t>
            </a:r>
            <a:br/>
            <a:r>
              <a:t>attachment impossible to replicate quickly.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389120"/>
            <a:ext cx="5303520" cy="2011680"/>
          </a:xfrm>
          <a:prstGeom prst="rect">
            <a:avLst/>
          </a:prstGeom>
          <a:solidFill>
            <a:srgbClr val="1E143B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572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676"/>
                </a:solidFill>
                <a:latin typeface="Calibri"/>
              </a:defRPr>
            </a:pPr>
            <a:r>
              <a:t>AI COACHING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5029200"/>
            <a:ext cx="4114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Gemini integration creates personalized coaching that</a:t>
            </a:r>
            <a:br/>
            <a:r>
              <a:t>improves with every interaction. Network effects.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89120"/>
            <a:ext cx="5303520" cy="2011680"/>
          </a:xfrm>
          <a:prstGeom prst="rect">
            <a:avLst/>
          </a:prstGeom>
          <a:solidFill>
            <a:srgbClr val="1E143B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6560" y="4572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572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AFRICA-FIRST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5029200"/>
            <a:ext cx="4114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Built for African markets first — Naira pricing, offline-first,</a:t>
            </a:r>
            <a:br/>
            <a:r>
              <a:t>low-bandwidth optimized. Then scale globally.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0" y="109728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  <a:latin typeface="Calibri"/>
              </a:defRPr>
            </a:pPr>
            <a:r>
              <a:t>EMERGE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2103120"/>
            <a:ext cx="30175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0" y="25603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D700"/>
                </a:solidFill>
                <a:latin typeface="Calibri"/>
              </a:defRPr>
            </a:pPr>
            <a:r>
              <a:t>Tiny changes. Remarkable results.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3291840"/>
            <a:ext cx="7589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Emerge transforms the invisible accumulation of habits into a visible,</a:t>
            </a:r>
            <a:br/>
            <a:r>
              <a:t>gamified journey of self-transformation. We don't just track what you do.</a:t>
            </a:r>
            <a:br/>
            <a:r>
              <a:t>We help you become who you want to be.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4754880"/>
            <a:ext cx="5760720" cy="1645920"/>
          </a:xfrm>
          <a:prstGeom prst="rect">
            <a:avLst/>
          </a:prstGeom>
          <a:solidFill>
            <a:srgbClr val="1E143B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0" y="49377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D700"/>
                </a:solidFill>
                <a:latin typeface="Calibri"/>
              </a:defRPr>
            </a:pPr>
            <a:r>
              <a:t>Let's Build the Future of Self-Improvement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5394960"/>
            <a:ext cx="521208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rPr dirty="0"/>
              <a:t>🌐  </a:t>
            </a:r>
            <a:r>
              <a:rPr lang="en-US" dirty="0"/>
              <a:t>https://tradeflash-l2966.web.app/</a:t>
            </a:r>
          </a:p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rPr dirty="0"/>
              <a:t>📧  </a:t>
            </a:r>
            <a:r>
              <a:rPr lang="en-US" dirty="0">
                <a:hlinkClick r:id="rId2"/>
              </a:rPr>
              <a:t>joeukpai55@gmail.com</a:t>
            </a:r>
            <a:r>
              <a:rPr lang="en-US" dirty="0"/>
              <a:t> 📞 09013213794</a:t>
            </a:r>
            <a:br>
              <a:rPr dirty="0"/>
            </a:br>
            <a:r>
              <a:rPr dirty="0"/>
              <a:t>Built with ❤️ from Nigeria, for the World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1725</Words>
  <Application>Microsoft Office PowerPoint</Application>
  <PresentationFormat>Widescreen</PresentationFormat>
  <Paragraphs>332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joshua ukpai</cp:lastModifiedBy>
  <cp:revision>3</cp:revision>
  <dcterms:created xsi:type="dcterms:W3CDTF">2013-01-27T09:14:16Z</dcterms:created>
  <dcterms:modified xsi:type="dcterms:W3CDTF">2026-03-27T17:58:13Z</dcterms:modified>
  <cp:category/>
</cp:coreProperties>
</file>